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1889885"/>
            <a:ext cx="4572000" cy="502909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61981" y="2564243"/>
            <a:ext cx="4572000" cy="553641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Unified Control Plane for Machine-Age Governance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1019156" y="3403634"/>
            <a:ext cx="1721644" cy="278606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9156" y="3403634"/>
            <a:ext cx="1721644" cy="27860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2" kern="0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AI-NATIVE IDENTITY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2869388" y="3403634"/>
            <a:ext cx="1803797" cy="278606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69388" y="3403634"/>
            <a:ext cx="1803797" cy="27860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2" kern="0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GRAPH ORCHESTRATION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333981" y="1357313"/>
            <a:ext cx="3048009" cy="2857500"/>
          </a:xfrm>
          <a:prstGeom prst="rect">
            <a:avLst/>
          </a:prstGeom>
          <a:solidFill>
            <a:srgbClr val="38BDF8">
              <a:alpha val="2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53278" y="3977283"/>
            <a:ext cx="98583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8BDF8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RELATIONSHIP_GRAPH_v2.0</a:t>
            </a:r>
            <a:endParaRPr lang="en-US" sz="516" dirty="0"/>
          </a:p>
        </p:txBody>
      </p:sp>
      <p:sp>
        <p:nvSpPr>
          <p:cNvPr id="11" name="Text 8"/>
          <p:cNvSpPr/>
          <p:nvPr/>
        </p:nvSpPr>
        <p:spPr>
          <a:xfrm>
            <a:off x="714375" y="4689872"/>
            <a:ext cx="1518047" cy="167878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CONFIDENTIAL | MARCH 2026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2518172" y="4689872"/>
            <a:ext cx="1032272" cy="167878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SEED ROUND: $4.0M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725091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MANUAL IDENTITY GOVERNANCE IS AN OPERATIONAL AND SECURITY CRISIS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719858"/>
            <a:ext cx="4279106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410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$1.2M</a:t>
            </a:r>
            <a:endParaRPr lang="en-US" sz="4410" dirty="0"/>
          </a:p>
        </p:txBody>
      </p:sp>
      <p:sp>
        <p:nvSpPr>
          <p:cNvPr id="5" name="Text 2"/>
          <p:cNvSpPr/>
          <p:nvPr/>
        </p:nvSpPr>
        <p:spPr>
          <a:xfrm>
            <a:off x="767953" y="2530673"/>
            <a:ext cx="427910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"MANUAL REVIEW TAX" PER ENTERPRISE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7953" y="2939653"/>
            <a:ext cx="20824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120+ HRS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67953" y="3223617"/>
            <a:ext cx="20824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manual labor spent on soul-crushing spreadsheet verification.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2964656" y="2939653"/>
            <a:ext cx="20824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3-5 DAYS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964656" y="3223617"/>
            <a:ext cx="20824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delay for new hires due to manual approval chains.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67953" y="3773686"/>
            <a:ext cx="20824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40% GAP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67953" y="4057650"/>
            <a:ext cx="20824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requests approved without proper verification due to human fatigue.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2964656" y="3773686"/>
            <a:ext cx="20824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1,062 APPS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2964656" y="4057650"/>
            <a:ext cx="20824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SaaS footprint managed by IT teams without automated intelligence.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332809" y="2260997"/>
            <a:ext cx="3043238" cy="1571625"/>
          </a:xfrm>
          <a:prstGeom prst="rect">
            <a:avLst/>
          </a:prstGeom>
          <a:solidFill>
            <a:srgbClr val="38BDF8">
              <a:alpha val="2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534" y="2346722"/>
            <a:ext cx="2857500" cy="1385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32809" y="3918347"/>
            <a:ext cx="30432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Unkov Internal Analysis &amp; 2026 Enterprise Security Reports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767953" y="4702373"/>
            <a:ext cx="7608094" cy="433983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DATASET_ID: CRISIS_ANALYSIS_2026_V1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144:1 — THE NEW IDENTITY PERIMETER IS NON-HUMAN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67953" y="1288833"/>
            <a:ext cx="4564856" cy="34284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325666" y="1288833"/>
            <a:ext cx="7144" cy="342841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67953" y="1778264"/>
            <a:ext cx="427910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615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144:1</a:t>
            </a:r>
            <a:endParaRPr lang="en-US" sz="6615" dirty="0"/>
          </a:p>
        </p:txBody>
      </p:sp>
      <p:sp>
        <p:nvSpPr>
          <p:cNvPr id="7" name="Text 4"/>
          <p:cNvSpPr/>
          <p:nvPr/>
        </p:nvSpPr>
        <p:spPr>
          <a:xfrm>
            <a:off x="767953" y="2749814"/>
            <a:ext cx="42791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BOT-TO-HUMAN RATIO (2026)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67953" y="3185582"/>
            <a:ext cx="42791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"Agentic Shift" has fundamentally broken the human-centric security model. Enterprises are now governing a machine-majority workforce.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67953" y="3974185"/>
            <a:ext cx="4279106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CRITICAL_VULNERABILITY: RELATIONAL_DATABASE_OVERLOAD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5332809" y="1289419"/>
            <a:ext cx="3043238" cy="951905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04259" y="1468013"/>
            <a:ext cx="2700338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95%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504259" y="1787696"/>
            <a:ext cx="27003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FORTUNE 500 ADOPTION OF AUTONOMOUS AI AGENTS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332809" y="2519930"/>
            <a:ext cx="3043238" cy="951905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04259" y="2698552"/>
            <a:ext cx="2700338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65%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5504259" y="3018234"/>
            <a:ext cx="27003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PERMISSION DRIFT RATE ("GHOST ACCESS")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5332809" y="3750469"/>
            <a:ext cx="3043238" cy="951905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4259" y="3929035"/>
            <a:ext cx="2700338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ZERO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5504259" y="4248717"/>
            <a:ext cx="27003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IAM VISIBILITY INTO AGENTIC TOXIC COMBINATIONS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767953" y="4702959"/>
            <a:ext cx="7608094" cy="433397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TELEMETRY_SOURCE: AGENTIC_ECONOMY_REPORT_2026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725091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MOVING FROM DIGITAL FILING CABINETS TO PREDICTIVE INTELLIGENCE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650123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// DISCOVER</a:t>
            </a:r>
            <a:endParaRPr lang="en-US" sz="72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53" y="1900154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7953" y="2396644"/>
            <a:ext cx="2345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IDENTITY SOCIAL FABRIC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67953" y="2680608"/>
            <a:ext cx="234552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the multi-dimensional relationships between humans, bots, and resources in real-time.</a:t>
            </a:r>
            <a:endParaRPr lang="en-US" sz="83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53" y="3338140"/>
            <a:ext cx="53578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256" y="3314923"/>
            <a:ext cx="151804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Amazon Neptune Graph Core</a:t>
            </a:r>
            <a:endParaRPr lang="en-US" sz="72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53" y="3527450"/>
            <a:ext cx="53578" cy="857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7256" y="3504233"/>
            <a:ext cx="157876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Lateral Movement Detection</a:t>
            </a:r>
            <a:endParaRPr lang="en-US" sz="727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53" y="3716759"/>
            <a:ext cx="53578" cy="857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07256" y="3693542"/>
            <a:ext cx="139660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Hidden Bridge Discovery</a:t>
            </a:r>
            <a:endParaRPr lang="en-US" sz="727" dirty="0"/>
          </a:p>
        </p:txBody>
      </p:sp>
      <p:sp>
        <p:nvSpPr>
          <p:cNvPr id="14" name="Text 7"/>
          <p:cNvSpPr/>
          <p:nvPr/>
        </p:nvSpPr>
        <p:spPr>
          <a:xfrm>
            <a:off x="3399225" y="1650123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// DECIDE</a:t>
            </a:r>
            <a:endParaRPr lang="en-US" sz="727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9225" y="1900154"/>
            <a:ext cx="342900" cy="3429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99225" y="2396644"/>
            <a:ext cx="2345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INTENT ENGINE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3399225" y="2680608"/>
            <a:ext cx="234552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access needs by analyzing functional peer-clones and organizational context.</a:t>
            </a:r>
            <a:endParaRPr lang="en-US" sz="83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9225" y="3338140"/>
            <a:ext cx="53578" cy="857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538528" y="3314923"/>
            <a:ext cx="139660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Peer-Clone Provisioning</a:t>
            </a:r>
            <a:endParaRPr lang="en-US" sz="727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9225" y="3527450"/>
            <a:ext cx="53578" cy="857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538528" y="3504233"/>
            <a:ext cx="115371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 10 Min Onboarding</a:t>
            </a:r>
            <a:endParaRPr lang="en-US" sz="727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9225" y="3716759"/>
            <a:ext cx="53578" cy="8572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538528" y="3693542"/>
            <a:ext cx="109299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Behavioral Scoring</a:t>
            </a:r>
            <a:endParaRPr lang="en-US" sz="727" dirty="0"/>
          </a:p>
        </p:txBody>
      </p:sp>
      <p:sp>
        <p:nvSpPr>
          <p:cNvPr id="24" name="Text 13"/>
          <p:cNvSpPr/>
          <p:nvPr/>
        </p:nvSpPr>
        <p:spPr>
          <a:xfrm>
            <a:off x="6030497" y="1650123"/>
            <a:ext cx="23455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// REMEDIATE</a:t>
            </a:r>
            <a:endParaRPr lang="en-US" sz="727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0497" y="1900154"/>
            <a:ext cx="342900" cy="3429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030497" y="2396644"/>
            <a:ext cx="2345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SELF-HEALING FABRIC</a:t>
            </a:r>
            <a:endParaRPr lang="en-US" sz="1193" dirty="0"/>
          </a:p>
        </p:txBody>
      </p:sp>
      <p:sp>
        <p:nvSpPr>
          <p:cNvPr id="27" name="Text 15"/>
          <p:cNvSpPr/>
          <p:nvPr/>
        </p:nvSpPr>
        <p:spPr>
          <a:xfrm>
            <a:off x="6030497" y="2680608"/>
            <a:ext cx="23455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purges orphaned accounts and kills toxic bot-links the moment risk is detected.</a:t>
            </a:r>
            <a:endParaRPr lang="en-US" sz="834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0497" y="3338140"/>
            <a:ext cx="53578" cy="85725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169800" y="3314923"/>
            <a:ext cx="139660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Usage-Based Rightsizing</a:t>
            </a:r>
            <a:endParaRPr lang="en-US" sz="727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0497" y="3527450"/>
            <a:ext cx="53578" cy="8572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169800" y="3504233"/>
            <a:ext cx="151804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Hard Kill-Switch for Bots</a:t>
            </a:r>
            <a:endParaRPr lang="en-US" sz="727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0497" y="3716759"/>
            <a:ext cx="53578" cy="85725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169800" y="3693542"/>
            <a:ext cx="139660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Continuous Verification</a:t>
            </a:r>
            <a:endParaRPr lang="en-US" sz="727" dirty="0"/>
          </a:p>
        </p:txBody>
      </p:sp>
      <p:sp>
        <p:nvSpPr>
          <p:cNvPr id="34" name="Shape 19"/>
          <p:cNvSpPr/>
          <p:nvPr/>
        </p:nvSpPr>
        <p:spPr>
          <a:xfrm>
            <a:off x="767953" y="4391704"/>
            <a:ext cx="1503759" cy="24645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Text 20"/>
          <p:cNvSpPr/>
          <p:nvPr/>
        </p:nvSpPr>
        <p:spPr>
          <a:xfrm>
            <a:off x="767953" y="4391704"/>
            <a:ext cx="1503759" cy="246459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B0F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ZERO-TOUCH DEPLOYMENT</a:t>
            </a:r>
            <a:endParaRPr lang="en-US" sz="683" dirty="0"/>
          </a:p>
        </p:txBody>
      </p:sp>
      <p:sp>
        <p:nvSpPr>
          <p:cNvPr id="36" name="Text 21"/>
          <p:cNvSpPr/>
          <p:nvPr/>
        </p:nvSpPr>
        <p:spPr>
          <a:xfrm>
            <a:off x="2443163" y="4446175"/>
            <a:ext cx="33593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"Identity Drift" dashboard generated in under 30 minutes.</a:t>
            </a:r>
            <a:endParaRPr lang="en-US" sz="834" dirty="0"/>
          </a:p>
        </p:txBody>
      </p:sp>
      <p:sp>
        <p:nvSpPr>
          <p:cNvPr id="37" name="Text 22"/>
          <p:cNvSpPr/>
          <p:nvPr/>
        </p:nvSpPr>
        <p:spPr>
          <a:xfrm>
            <a:off x="767953" y="4664925"/>
            <a:ext cx="7608094" cy="471432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SYSTEM_STATUS: AUTONOMOUS_GOVERNANCE_ACTIVE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95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$30B FRONTIER AT THE INTERSECTION OF IGA &amp; ITDR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67953" y="1287661"/>
            <a:ext cx="2345522" cy="2910297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7953" y="1516261"/>
            <a:ext cx="2345522" cy="132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TOTAL ADDRESSABLE MARKET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767953" y="1819870"/>
            <a:ext cx="2345522" cy="601861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50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$30B+</a:t>
            </a:r>
            <a:endParaRPr lang="en-US" sz="3504" dirty="0"/>
          </a:p>
        </p:txBody>
      </p:sp>
      <p:sp>
        <p:nvSpPr>
          <p:cNvPr id="7" name="Text 4"/>
          <p:cNvSpPr/>
          <p:nvPr/>
        </p:nvSpPr>
        <p:spPr>
          <a:xfrm>
            <a:off x="767953" y="2536031"/>
            <a:ext cx="2345522" cy="17323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2026 Opportunity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939403" y="2880717"/>
            <a:ext cx="20026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$10.7B Identity Governance (IGA)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939403" y="3155026"/>
            <a:ext cx="20026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$19.6B Threat Detection (ITDR)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939403" y="3429335"/>
            <a:ext cx="2002622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Hyper-growth driven by AI agent proliferation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3399225" y="1287661"/>
            <a:ext cx="2345522" cy="2910297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9403" y="2880717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939403" y="3155026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939403" y="3429335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3399225" y="1516261"/>
            <a:ext cx="2345522" cy="132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TARGET SEGMENTS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3399225" y="1819870"/>
            <a:ext cx="2345522" cy="601861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50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19K</a:t>
            </a:r>
            <a:endParaRPr lang="en-US" sz="3504" dirty="0"/>
          </a:p>
        </p:txBody>
      </p:sp>
      <p:sp>
        <p:nvSpPr>
          <p:cNvPr id="17" name="Text 14"/>
          <p:cNvSpPr/>
          <p:nvPr/>
        </p:nvSpPr>
        <p:spPr>
          <a:xfrm>
            <a:off x="3399225" y="2536031"/>
            <a:ext cx="2345522" cy="17323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Accelerator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570675" y="2880717"/>
            <a:ext cx="20026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500–19,000 employee enterprises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570675" y="3155026"/>
            <a:ext cx="2002622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High-compliance BFSI &amp; Healthcare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570675" y="3589344"/>
            <a:ext cx="20026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"Agent-Heavy" tech organizations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6030497" y="1287661"/>
            <a:ext cx="2345550" cy="2910297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70675" y="2880717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570675" y="3155026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3570675" y="3589344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6030497" y="1516261"/>
            <a:ext cx="2345550" cy="132159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SECURITY ROI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030497" y="1819870"/>
            <a:ext cx="2345550" cy="601861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50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$1.9M</a:t>
            </a:r>
            <a:endParaRPr lang="en-US" sz="3504" dirty="0"/>
          </a:p>
        </p:txBody>
      </p:sp>
      <p:sp>
        <p:nvSpPr>
          <p:cNvPr id="27" name="Text 24"/>
          <p:cNvSpPr/>
          <p:nvPr/>
        </p:nvSpPr>
        <p:spPr>
          <a:xfrm>
            <a:off x="6030497" y="2536031"/>
            <a:ext cx="2345550" cy="173236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Savings Per Incident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6201947" y="2880717"/>
            <a:ext cx="200265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80-day reduction in breach detection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6201947" y="3315035"/>
            <a:ext cx="200265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lateral movement prevention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6201947" y="3749353"/>
            <a:ext cx="200265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Elimination of "Manual Review Tax"</a:t>
            </a:r>
            <a:endParaRPr lang="en-US" sz="834" dirty="0"/>
          </a:p>
        </p:txBody>
      </p:sp>
      <p:sp>
        <p:nvSpPr>
          <p:cNvPr id="31" name="Shape 28"/>
          <p:cNvSpPr/>
          <p:nvPr/>
        </p:nvSpPr>
        <p:spPr>
          <a:xfrm>
            <a:off x="767953" y="4469420"/>
            <a:ext cx="7608094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67953" y="4469420"/>
            <a:ext cx="7608094" cy="7144"/>
          </a:xfrm>
          <a:prstGeom prst="rect">
            <a:avLst/>
          </a:prstGeom>
          <a:solidFill>
            <a:srgbClr val="D7F2FE"/>
          </a:solidFill>
          <a:ln/>
        </p:spPr>
      </p:sp>
      <p:sp>
        <p:nvSpPr>
          <p:cNvPr id="33" name="Text 30"/>
          <p:cNvSpPr/>
          <p:nvPr/>
        </p:nvSpPr>
        <p:spPr>
          <a:xfrm>
            <a:off x="6201947" y="2880717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6201947" y="3315035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6201947" y="3749353"/>
            <a:ext cx="6786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767953" y="4690876"/>
            <a:ext cx="307538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REGULATORY TAILWINDS &amp; COMPLIANCE DRIVERS</a:t>
            </a:r>
            <a:endParaRPr lang="en-US" sz="727" dirty="0"/>
          </a:p>
        </p:txBody>
      </p:sp>
      <p:sp>
        <p:nvSpPr>
          <p:cNvPr id="37" name="Shape 34"/>
          <p:cNvSpPr/>
          <p:nvPr/>
        </p:nvSpPr>
        <p:spPr>
          <a:xfrm>
            <a:off x="5275659" y="4640870"/>
            <a:ext cx="910828" cy="232172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75659" y="4640870"/>
            <a:ext cx="910828" cy="232172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PCI DSS 4.0</a:t>
            </a:r>
            <a:endParaRPr lang="en-US" sz="727" dirty="0"/>
          </a:p>
        </p:txBody>
      </p:sp>
      <p:sp>
        <p:nvSpPr>
          <p:cNvPr id="39" name="Shape 36"/>
          <p:cNvSpPr/>
          <p:nvPr/>
        </p:nvSpPr>
        <p:spPr>
          <a:xfrm>
            <a:off x="6329363" y="4640870"/>
            <a:ext cx="546497" cy="232172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29363" y="4640870"/>
            <a:ext cx="546497" cy="232172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HIPAA</a:t>
            </a:r>
            <a:endParaRPr lang="en-US" sz="727" dirty="0"/>
          </a:p>
        </p:txBody>
      </p:sp>
      <p:sp>
        <p:nvSpPr>
          <p:cNvPr id="41" name="Shape 38"/>
          <p:cNvSpPr/>
          <p:nvPr/>
        </p:nvSpPr>
        <p:spPr>
          <a:xfrm>
            <a:off x="7018734" y="4640870"/>
            <a:ext cx="546497" cy="232172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18734" y="4640870"/>
            <a:ext cx="546497" cy="232172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SOC 2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7708106" y="4640870"/>
            <a:ext cx="667941" cy="232172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708106" y="4640870"/>
            <a:ext cx="667941" cy="232172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GDPR v2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767953" y="4858755"/>
            <a:ext cx="7608094" cy="417909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MARKET_INTEL: GARTNER_IGA_GUIDE_2026 | MARKETSANDMARKETS_ITDR_2026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BUILT ON THE GRAPH: OUR STRUCTURAL MOAT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67953" y="1534762"/>
            <a:ext cx="2421731" cy="2160845"/>
          </a:xfrm>
          <a:prstGeom prst="rect">
            <a:avLst/>
          </a:prstGeom>
          <a:solidFill>
            <a:srgbClr val="94A3B8">
              <a:alpha val="2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9403" y="1649062"/>
            <a:ext cx="1150144" cy="16966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39403" y="1649062"/>
            <a:ext cx="1150144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STRUCTURAL_ADVANTAGE</a:t>
            </a:r>
            <a:endParaRPr lang="en-US" sz="621" dirty="0"/>
          </a:p>
        </p:txBody>
      </p:sp>
      <p:sp>
        <p:nvSpPr>
          <p:cNvPr id="7" name="Text 4"/>
          <p:cNvSpPr/>
          <p:nvPr/>
        </p:nvSpPr>
        <p:spPr>
          <a:xfrm>
            <a:off x="939403" y="1933026"/>
            <a:ext cx="20788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AMAZON NEPTUNE CORE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939403" y="2208061"/>
            <a:ext cx="2078831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99.2%</a:t>
            </a:r>
            <a:endParaRPr lang="en-US" sz="2592" dirty="0"/>
          </a:p>
        </p:txBody>
      </p:sp>
      <p:sp>
        <p:nvSpPr>
          <p:cNvPr id="9" name="Text 6"/>
          <p:cNvSpPr/>
          <p:nvPr/>
        </p:nvSpPr>
        <p:spPr>
          <a:xfrm>
            <a:off x="939403" y="2745628"/>
            <a:ext cx="207883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precision from modeling relationships directly. Relational tables miss multi-dimensional toxic combinations.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3361134" y="1534762"/>
            <a:ext cx="2421731" cy="2160845"/>
          </a:xfrm>
          <a:prstGeom prst="rect">
            <a:avLst/>
          </a:prstGeom>
          <a:solidFill>
            <a:srgbClr val="94A3B8">
              <a:alpha val="2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2584" y="1652634"/>
            <a:ext cx="839391" cy="16966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532584" y="1652634"/>
            <a:ext cx="839391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DATA_ADVANTAGE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3532584" y="1936598"/>
            <a:ext cx="20788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NETWORK EFFECT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532584" y="2211632"/>
            <a:ext cx="207883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∞</a:t>
            </a:r>
            <a:endParaRPr lang="en-US" sz="2592" dirty="0"/>
          </a:p>
        </p:txBody>
      </p:sp>
      <p:sp>
        <p:nvSpPr>
          <p:cNvPr id="15" name="Text 12"/>
          <p:cNvSpPr/>
          <p:nvPr/>
        </p:nvSpPr>
        <p:spPr>
          <a:xfrm>
            <a:off x="3532584" y="2763487"/>
            <a:ext cx="207883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deployment enriches our behavioral dataset, creating a compounding intelligence loop legacy vendors cannot match.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5954316" y="1538334"/>
            <a:ext cx="2421731" cy="2150129"/>
          </a:xfrm>
          <a:prstGeom prst="rect">
            <a:avLst/>
          </a:prstGeom>
          <a:solidFill>
            <a:srgbClr val="94A3B8">
              <a:alpha val="2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5766" y="1652634"/>
            <a:ext cx="891183" cy="16966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125766" y="1652634"/>
            <a:ext cx="891183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SPEED_ADVANTAGE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6125766" y="1936598"/>
            <a:ext cx="20788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SUB-SECOND DETECTION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125766" y="2211632"/>
            <a:ext cx="2078831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&lt;1s</a:t>
            </a:r>
            <a:endParaRPr lang="en-US" sz="2592" dirty="0"/>
          </a:p>
        </p:txBody>
      </p:sp>
      <p:sp>
        <p:nvSpPr>
          <p:cNvPr id="21" name="Text 18"/>
          <p:cNvSpPr/>
          <p:nvPr/>
        </p:nvSpPr>
        <p:spPr>
          <a:xfrm>
            <a:off x="6125766" y="2749200"/>
            <a:ext cx="207883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relationship mapping enables sub-second risk detection across millions of nodes for prompt remediation.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767953" y="4095657"/>
            <a:ext cx="3632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LEGACY: RELATIONAL (FLAT LISTS)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767953" y="4317113"/>
            <a:ext cx="363259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humans, not agents. Static tables fail to detect lateral movement and complex bot-to-resource interactions.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743450" y="4095657"/>
            <a:ext cx="3632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UNKOV: GRAPH-NATIVE (SOCIAL FABRIC)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743450" y="4317113"/>
            <a:ext cx="363259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the machine age. Our architecture maps the social fabric of the business to reveal lines others miss.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767953" y="4724949"/>
            <a:ext cx="7608094" cy="411407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ARCHITECTURE_ID: NEPTUNE_GRAPH_ORCHESTRATOR_v2.0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725091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SCALABLE SAAS WITH HIGH-EFFICIENCY "INFERENCE ECONOMICS"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719858"/>
            <a:ext cx="22824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HYBRID SAAS MODEL</a:t>
            </a:r>
            <a:endParaRPr lang="en-US" sz="727" dirty="0"/>
          </a:p>
        </p:txBody>
      </p:sp>
      <p:sp>
        <p:nvSpPr>
          <p:cNvPr id="5" name="Shape 2"/>
          <p:cNvSpPr/>
          <p:nvPr/>
        </p:nvSpPr>
        <p:spPr>
          <a:xfrm>
            <a:off x="767953" y="2052042"/>
            <a:ext cx="2282428" cy="966499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0828" y="2194917"/>
            <a:ext cx="19966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Platform Fee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910828" y="2441377"/>
            <a:ext cx="199667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base subscription for core governance modules and standard support.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767953" y="3232854"/>
            <a:ext cx="2282428" cy="826498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0828" y="3375729"/>
            <a:ext cx="19966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Node-Based Tiers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910828" y="3622188"/>
            <a:ext cx="199667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Usage-based pricing scaled by active "Identity Nodes" (Humans + Bots).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3050381" y="1719858"/>
            <a:ext cx="3043238" cy="28682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050381" y="1719858"/>
            <a:ext cx="7144" cy="286821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3336131" y="1719858"/>
            <a:ext cx="27574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INFERENCE ECONOMICS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336131" y="2052042"/>
            <a:ext cx="275748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-30%</a:t>
            </a:r>
            <a:endParaRPr lang="en-US" sz="2592" dirty="0"/>
          </a:p>
        </p:txBody>
      </p:sp>
      <p:sp>
        <p:nvSpPr>
          <p:cNvPr id="15" name="Text 12"/>
          <p:cNvSpPr/>
          <p:nvPr/>
        </p:nvSpPr>
        <p:spPr>
          <a:xfrm>
            <a:off x="3336131" y="2532459"/>
            <a:ext cx="27574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COST-PER-INFERENCE (CPI)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3336131" y="2882503"/>
            <a:ext cx="27574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Task-specific, optimized models outperform generic "AI wrappers," ensuring profitable autonomous remediation at scale.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6093619" y="1719858"/>
            <a:ext cx="2282428" cy="28682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093619" y="1719858"/>
            <a:ext cx="7144" cy="286821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Text 16"/>
          <p:cNvSpPr/>
          <p:nvPr/>
        </p:nvSpPr>
        <p:spPr>
          <a:xfrm>
            <a:off x="6379369" y="1719858"/>
            <a:ext cx="199667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UNIT ECONOMICS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379369" y="2052042"/>
            <a:ext cx="199667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5:1</a:t>
            </a:r>
            <a:endParaRPr lang="en-US" sz="2592" dirty="0"/>
          </a:p>
        </p:txBody>
      </p:sp>
      <p:sp>
        <p:nvSpPr>
          <p:cNvPr id="21" name="Text 18"/>
          <p:cNvSpPr/>
          <p:nvPr/>
        </p:nvSpPr>
        <p:spPr>
          <a:xfrm>
            <a:off x="6379369" y="2532459"/>
            <a:ext cx="19966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LTV:CAC RATIO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379369" y="2882503"/>
            <a:ext cx="199667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75-80%</a:t>
            </a:r>
            <a:endParaRPr lang="en-US" sz="2592" dirty="0"/>
          </a:p>
        </p:txBody>
      </p:sp>
      <p:sp>
        <p:nvSpPr>
          <p:cNvPr id="23" name="Text 20"/>
          <p:cNvSpPr/>
          <p:nvPr/>
        </p:nvSpPr>
        <p:spPr>
          <a:xfrm>
            <a:off x="6379369" y="3362920"/>
            <a:ext cx="19966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GROSS MARGIN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379369" y="3712964"/>
            <a:ext cx="1996678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115%</a:t>
            </a:r>
            <a:endParaRPr lang="en-US" sz="2592" dirty="0"/>
          </a:p>
        </p:txBody>
      </p:sp>
      <p:sp>
        <p:nvSpPr>
          <p:cNvPr id="25" name="Text 22"/>
          <p:cNvSpPr/>
          <p:nvPr/>
        </p:nvSpPr>
        <p:spPr>
          <a:xfrm>
            <a:off x="6379369" y="4193381"/>
            <a:ext cx="19966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REVENUE RETENTION (NRR)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767953" y="4588073"/>
            <a:ext cx="7608094" cy="548283"/>
          </a:xfrm>
          <a:prstGeom prst="rect">
            <a:avLst/>
          </a:prstGeom>
          <a:noFill/>
          <a:ln/>
        </p:spPr>
        <p:txBody>
          <a:bodyPr wrap="square" lIns="0" tIns="306197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MODEL_ID: INFERENCE_ECONOMICS_2026_PROJECTION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435769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 SITS ALONE IN THE FUTURE-FACING QUADRANT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910758"/>
            <a:ext cx="1122629" cy="221456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1890582" y="1910758"/>
            <a:ext cx="921767" cy="221456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LEGACY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2812349" y="1910758"/>
            <a:ext cx="998841" cy="221456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767953" y="2132214"/>
            <a:ext cx="1122629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Architecture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1890582" y="2132214"/>
            <a:ext cx="921767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2812349" y="2132214"/>
            <a:ext cx="998841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Graph-Native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67953" y="2385817"/>
            <a:ext cx="1122629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Identity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1890582" y="2385817"/>
            <a:ext cx="921767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Human-Only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2812349" y="2385817"/>
            <a:ext cx="998841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(H+B)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767953" y="2639420"/>
            <a:ext cx="1122629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Philosophy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1890582" y="2639420"/>
            <a:ext cx="921767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2812349" y="2639420"/>
            <a:ext cx="998841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767953" y="2893023"/>
            <a:ext cx="1122629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Setup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1890582" y="2893023"/>
            <a:ext cx="921767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812349" y="2893023"/>
            <a:ext cx="998841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30 Mins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767953" y="3146627"/>
            <a:ext cx="1122629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 Core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1890582" y="3146627"/>
            <a:ext cx="921767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Bolt-on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2812349" y="3146627"/>
            <a:ext cx="998841" cy="253603"/>
          </a:xfrm>
          <a:prstGeom prst="rect">
            <a:avLst/>
          </a:prstGeom>
          <a:noFill/>
          <a:ln/>
        </p:spPr>
        <p:txBody>
          <a:bodyPr wrap="square" lIns="0" tIns="136017" rIns="0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767953" y="3632402"/>
            <a:ext cx="30432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vendors are reporting tools; Unkov is a remediation engine architected for the agentic era.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 rot="-5400000">
            <a:off x="4000500" y="2931589"/>
            <a:ext cx="123765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AUTONOMOUS CAPABILITY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5825728" y="4891069"/>
            <a:ext cx="12965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ARCHITECTURE MODERNITY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688086" y="1145651"/>
            <a:ext cx="3571875" cy="3571875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31311" y="1217089"/>
            <a:ext cx="557213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FUTURE-FACING</a:t>
            </a:r>
            <a:endParaRPr lang="en-US" sz="516" dirty="0"/>
          </a:p>
        </p:txBody>
      </p:sp>
      <p:sp>
        <p:nvSpPr>
          <p:cNvPr id="27" name="Text 24"/>
          <p:cNvSpPr/>
          <p:nvPr/>
        </p:nvSpPr>
        <p:spPr>
          <a:xfrm>
            <a:off x="4759523" y="4551434"/>
            <a:ext cx="64293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LEGACY / MANUAL</a:t>
            </a:r>
            <a:endParaRPr lang="en-US" sz="516" dirty="0"/>
          </a:p>
        </p:txBody>
      </p:sp>
      <p:sp>
        <p:nvSpPr>
          <p:cNvPr id="28" name="Text 25"/>
          <p:cNvSpPr/>
          <p:nvPr/>
        </p:nvSpPr>
        <p:spPr>
          <a:xfrm>
            <a:off x="5545336" y="3962074"/>
            <a:ext cx="46613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SailPoint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6259711" y="3604887"/>
            <a:ext cx="2071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Okta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6974086" y="4140668"/>
            <a:ext cx="4143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CyberArk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7518797" y="1502839"/>
            <a:ext cx="38397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767953" y="4717833"/>
            <a:ext cx="7608094" cy="418523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COMPETITIVE_LANDSCAPE_v2026.4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FROM VISION TO VALIDATION: PILOT ROI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953691" y="1498988"/>
            <a:ext cx="2857500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90%</a:t>
            </a:r>
            <a:endParaRPr lang="en-US" sz="2592" dirty="0"/>
          </a:p>
        </p:txBody>
      </p:sp>
      <p:sp>
        <p:nvSpPr>
          <p:cNvPr id="5" name="Text 2"/>
          <p:cNvSpPr/>
          <p:nvPr/>
        </p:nvSpPr>
        <p:spPr>
          <a:xfrm>
            <a:off x="953691" y="1979405"/>
            <a:ext cx="28575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MANUAL IT LABOR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953691" y="2386599"/>
            <a:ext cx="2857500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100%</a:t>
            </a:r>
            <a:endParaRPr lang="en-US" sz="2592" dirty="0"/>
          </a:p>
        </p:txBody>
      </p:sp>
      <p:sp>
        <p:nvSpPr>
          <p:cNvPr id="7" name="Text 4"/>
          <p:cNvSpPr/>
          <p:nvPr/>
        </p:nvSpPr>
        <p:spPr>
          <a:xfrm>
            <a:off x="953691" y="2867016"/>
            <a:ext cx="28575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RETENTION RATE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953691" y="3274209"/>
            <a:ext cx="2857500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$1.9M</a:t>
            </a:r>
            <a:endParaRPr lang="en-US" sz="2592" dirty="0"/>
          </a:p>
        </p:txBody>
      </p:sp>
      <p:sp>
        <p:nvSpPr>
          <p:cNvPr id="9" name="Text 6"/>
          <p:cNvSpPr/>
          <p:nvPr/>
        </p:nvSpPr>
        <p:spPr>
          <a:xfrm>
            <a:off x="953691" y="3754627"/>
            <a:ext cx="28575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SAVINGS PER INCIDENT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4572000" y="1498988"/>
            <a:ext cx="3804047" cy="1714500"/>
          </a:xfrm>
          <a:prstGeom prst="rect">
            <a:avLst/>
          </a:prstGeom>
          <a:solidFill>
            <a:srgbClr val="38BDF8">
              <a:alpha val="2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641863"/>
            <a:ext cx="3504009" cy="141446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0" y="3442088"/>
            <a:ext cx="235744" cy="189309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572000" y="3442088"/>
            <a:ext cx="235744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4922044" y="3442088"/>
            <a:ext cx="34236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Pilots Completed with Tier-1 Fintech and Healthcare partners.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4572000" y="3774272"/>
            <a:ext cx="235744" cy="189309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0" y="3774272"/>
            <a:ext cx="235744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4922044" y="3774272"/>
            <a:ext cx="34272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autonomous revocation enabled for "Toxic" bot-links.</a:t>
            </a:r>
            <a:endParaRPr lang="en-US" sz="834" dirty="0"/>
          </a:p>
        </p:txBody>
      </p:sp>
      <p:sp>
        <p:nvSpPr>
          <p:cNvPr id="18" name="Shape 14"/>
          <p:cNvSpPr/>
          <p:nvPr/>
        </p:nvSpPr>
        <p:spPr>
          <a:xfrm>
            <a:off x="4572000" y="4106456"/>
            <a:ext cx="235744" cy="189309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0" y="4106456"/>
            <a:ext cx="235744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4922044" y="4106456"/>
            <a:ext cx="31968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100% audit readiness for SOC2 in under 30 days.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767953" y="4507092"/>
            <a:ext cx="7608094" cy="62926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VALIDATION_LOG: PILOT_PHASE_01_COMPLETE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725091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MULTI-CHANNEL DISTRIBUTION FOR RAPID MARKET PENETRATION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807815"/>
            <a:ext cx="24407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CHANNEL 01 // MSPS</a:t>
            </a:r>
            <a:endParaRPr lang="en-US" sz="72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53" y="2052489"/>
            <a:ext cx="357188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7953" y="2457896"/>
            <a:ext cx="24407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PARTNERSHIP MODEL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67953" y="2750790"/>
            <a:ext cx="2440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Partnering with top-tier Managed Service Providers to embed Unkov in security bundles.</a:t>
            </a:r>
            <a:endParaRPr lang="en-US" sz="780" dirty="0"/>
          </a:p>
        </p:txBody>
      </p:sp>
      <p:sp>
        <p:nvSpPr>
          <p:cNvPr id="8" name="Shape 4"/>
          <p:cNvSpPr/>
          <p:nvPr/>
        </p:nvSpPr>
        <p:spPr>
          <a:xfrm>
            <a:off x="767953" y="3207990"/>
            <a:ext cx="2440763" cy="207169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767953" y="3207990"/>
            <a:ext cx="14288" cy="20716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6"/>
          <p:cNvSpPr/>
          <p:nvPr/>
        </p:nvSpPr>
        <p:spPr>
          <a:xfrm>
            <a:off x="767953" y="3207990"/>
            <a:ext cx="2440763" cy="20716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10+ TARGET MSPs IN PIPELINE</a:t>
            </a:r>
            <a:endParaRPr lang="en-US" sz="674" dirty="0"/>
          </a:p>
        </p:txBody>
      </p:sp>
      <p:sp>
        <p:nvSpPr>
          <p:cNvPr id="11" name="Shape 7"/>
          <p:cNvSpPr/>
          <p:nvPr/>
        </p:nvSpPr>
        <p:spPr>
          <a:xfrm>
            <a:off x="767953" y="3472309"/>
            <a:ext cx="2440763" cy="207169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767953" y="3472309"/>
            <a:ext cx="14288" cy="20716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9"/>
          <p:cNvSpPr/>
          <p:nvPr/>
        </p:nvSpPr>
        <p:spPr>
          <a:xfrm>
            <a:off x="767953" y="3472309"/>
            <a:ext cx="2440763" cy="20716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20% PARTNER MARGIN TARGET</a:t>
            </a:r>
            <a:endParaRPr lang="en-US" sz="674" dirty="0"/>
          </a:p>
        </p:txBody>
      </p:sp>
      <p:sp>
        <p:nvSpPr>
          <p:cNvPr id="14" name="Text 10"/>
          <p:cNvSpPr/>
          <p:nvPr/>
        </p:nvSpPr>
        <p:spPr>
          <a:xfrm>
            <a:off x="3351591" y="1807815"/>
            <a:ext cx="244079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CHANNEL 02 // CLOUD</a:t>
            </a:r>
            <a:endParaRPr lang="en-US" sz="727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591" y="2052489"/>
            <a:ext cx="357188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51591" y="2457896"/>
            <a:ext cx="24407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MARKETPLACE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3351591" y="2750790"/>
            <a:ext cx="24407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Simplified procurement for IT directors using existing cloud budgets and AWS credits.</a:t>
            </a:r>
            <a:endParaRPr lang="en-US" sz="780" dirty="0"/>
          </a:p>
        </p:txBody>
      </p:sp>
      <p:sp>
        <p:nvSpPr>
          <p:cNvPr id="18" name="Shape 13"/>
          <p:cNvSpPr/>
          <p:nvPr/>
        </p:nvSpPr>
        <p:spPr>
          <a:xfrm>
            <a:off x="3351591" y="3207990"/>
            <a:ext cx="2440791" cy="207169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3351591" y="3207990"/>
            <a:ext cx="14288" cy="20716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5"/>
          <p:cNvSpPr/>
          <p:nvPr/>
        </p:nvSpPr>
        <p:spPr>
          <a:xfrm>
            <a:off x="3351591" y="3207990"/>
            <a:ext cx="2440791" cy="20716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ZERO-FRICTION PROCUREMENT</a:t>
            </a:r>
            <a:endParaRPr lang="en-US" sz="674" dirty="0"/>
          </a:p>
        </p:txBody>
      </p:sp>
      <p:sp>
        <p:nvSpPr>
          <p:cNvPr id="21" name="Shape 16"/>
          <p:cNvSpPr/>
          <p:nvPr/>
        </p:nvSpPr>
        <p:spPr>
          <a:xfrm>
            <a:off x="3351591" y="3472309"/>
            <a:ext cx="2440791" cy="207169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3351591" y="3472309"/>
            <a:ext cx="14288" cy="20716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18"/>
          <p:cNvSpPr/>
          <p:nvPr/>
        </p:nvSpPr>
        <p:spPr>
          <a:xfrm>
            <a:off x="3351591" y="3472309"/>
            <a:ext cx="2440791" cy="20716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CO-SELL OPPORTUNITIES</a:t>
            </a:r>
            <a:endParaRPr lang="en-US" sz="674" dirty="0"/>
          </a:p>
        </p:txBody>
      </p:sp>
      <p:sp>
        <p:nvSpPr>
          <p:cNvPr id="24" name="Text 19"/>
          <p:cNvSpPr/>
          <p:nvPr/>
        </p:nvSpPr>
        <p:spPr>
          <a:xfrm>
            <a:off x="5935256" y="1807815"/>
            <a:ext cx="24407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CHANNEL 03 // DIRECT</a:t>
            </a:r>
            <a:endParaRPr lang="en-US" sz="727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56" y="2052489"/>
            <a:ext cx="214313" cy="2857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35256" y="2457896"/>
            <a:ext cx="24407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ENTERPRISE GROWTH</a:t>
            </a:r>
            <a:endParaRPr lang="en-US" sz="1090" dirty="0"/>
          </a:p>
        </p:txBody>
      </p:sp>
      <p:sp>
        <p:nvSpPr>
          <p:cNvPr id="27" name="Text 21"/>
          <p:cNvSpPr/>
          <p:nvPr/>
        </p:nvSpPr>
        <p:spPr>
          <a:xfrm>
            <a:off x="5935256" y="2750790"/>
            <a:ext cx="2440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High-touch consultative process targeting CISOs in high-compliance BFSI &amp; Healthcare.</a:t>
            </a:r>
            <a:endParaRPr lang="en-US" sz="780" dirty="0"/>
          </a:p>
        </p:txBody>
      </p:sp>
      <p:sp>
        <p:nvSpPr>
          <p:cNvPr id="28" name="Shape 22"/>
          <p:cNvSpPr/>
          <p:nvPr/>
        </p:nvSpPr>
        <p:spPr>
          <a:xfrm>
            <a:off x="5935256" y="3207990"/>
            <a:ext cx="2440763" cy="207169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5935256" y="3207990"/>
            <a:ext cx="14288" cy="20716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4"/>
          <p:cNvSpPr/>
          <p:nvPr/>
        </p:nvSpPr>
        <p:spPr>
          <a:xfrm>
            <a:off x="5935256" y="3207990"/>
            <a:ext cx="2440763" cy="20716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30-MIN PROOF OF VALUE</a:t>
            </a:r>
            <a:endParaRPr lang="en-US" sz="674" dirty="0"/>
          </a:p>
        </p:txBody>
      </p:sp>
      <p:sp>
        <p:nvSpPr>
          <p:cNvPr id="31" name="Shape 25"/>
          <p:cNvSpPr/>
          <p:nvPr/>
        </p:nvSpPr>
        <p:spPr>
          <a:xfrm>
            <a:off x="5935256" y="3472309"/>
            <a:ext cx="2440763" cy="207169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5935256" y="3472309"/>
            <a:ext cx="14288" cy="20716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Text 27"/>
          <p:cNvSpPr/>
          <p:nvPr/>
        </p:nvSpPr>
        <p:spPr>
          <a:xfrm>
            <a:off x="5935256" y="3472309"/>
            <a:ext cx="2440763" cy="20716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FOCUS ON COMPLIANCE ROI</a:t>
            </a:r>
            <a:endParaRPr lang="en-US" sz="674" dirty="0"/>
          </a:p>
        </p:txBody>
      </p:sp>
      <p:sp>
        <p:nvSpPr>
          <p:cNvPr id="34" name="Shape 28"/>
          <p:cNvSpPr/>
          <p:nvPr/>
        </p:nvSpPr>
        <p:spPr>
          <a:xfrm>
            <a:off x="767953" y="4147840"/>
            <a:ext cx="7608094" cy="5022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767953" y="4147840"/>
            <a:ext cx="7608094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Text 30"/>
          <p:cNvSpPr/>
          <p:nvPr/>
        </p:nvSpPr>
        <p:spPr>
          <a:xfrm>
            <a:off x="767953" y="4362376"/>
            <a:ext cx="20252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SEED PHASE TARGET MILESTONE</a:t>
            </a:r>
            <a:endParaRPr lang="en-US" sz="727" dirty="0"/>
          </a:p>
        </p:txBody>
      </p:sp>
      <p:sp>
        <p:nvSpPr>
          <p:cNvPr id="37" name="Text 31"/>
          <p:cNvSpPr/>
          <p:nvPr/>
        </p:nvSpPr>
        <p:spPr>
          <a:xfrm>
            <a:off x="5682853" y="4315048"/>
            <a:ext cx="26931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$500K ARR WITHIN 24 MONTHS</a:t>
            </a:r>
            <a:endParaRPr lang="en-US" sz="1193" dirty="0"/>
          </a:p>
        </p:txBody>
      </p:sp>
      <p:sp>
        <p:nvSpPr>
          <p:cNvPr id="38" name="Text 32"/>
          <p:cNvSpPr/>
          <p:nvPr/>
        </p:nvSpPr>
        <p:spPr>
          <a:xfrm>
            <a:off x="767953" y="4648349"/>
            <a:ext cx="7608094" cy="48800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GTM_STRATEGY_v2026.1 | DISTRIBUTION_ORCHESTRATION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ARCHITECTS OF THE GRAPH AGE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711403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CEO &amp; FOUNDER</a:t>
            </a:r>
            <a:endParaRPr lang="en-US" sz="72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53" y="1990009"/>
            <a:ext cx="428625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7953" y="2543649"/>
            <a:ext cx="2345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CYBER-INTELLIGENCE EXPERT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67953" y="3111578"/>
            <a:ext cx="234552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in enterprise security architecture and identity threat intelligence.</a:t>
            </a:r>
            <a:endParaRPr lang="en-US" sz="83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53" y="3854834"/>
            <a:ext cx="53578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256" y="3831617"/>
            <a:ext cx="157876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15+ Years in Cybersecurity</a:t>
            </a:r>
            <a:endParaRPr lang="en-US" sz="72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53" y="4072719"/>
            <a:ext cx="53578" cy="857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7256" y="4049502"/>
            <a:ext cx="12144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Former Security Lead</a:t>
            </a:r>
            <a:endParaRPr lang="en-US" sz="727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53" y="4290603"/>
            <a:ext cx="53578" cy="857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07256" y="4267386"/>
            <a:ext cx="145732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Identity Strategy Expert</a:t>
            </a:r>
            <a:endParaRPr lang="en-US" sz="727" dirty="0"/>
          </a:p>
        </p:txBody>
      </p:sp>
      <p:sp>
        <p:nvSpPr>
          <p:cNvPr id="14" name="Text 7"/>
          <p:cNvSpPr/>
          <p:nvPr/>
        </p:nvSpPr>
        <p:spPr>
          <a:xfrm>
            <a:off x="3399225" y="1711403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CTO &amp; FOUNDER</a:t>
            </a:r>
            <a:endParaRPr lang="en-US" sz="727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9225" y="1990009"/>
            <a:ext cx="428625" cy="3429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99225" y="2543649"/>
            <a:ext cx="2345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FORMER AWS GRAPH ARCHITECT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3399225" y="3111578"/>
            <a:ext cx="234552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Architected core components of Amazon Neptune and large-scale graph inference engines.</a:t>
            </a:r>
            <a:endParaRPr lang="en-US" sz="83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9225" y="3854834"/>
            <a:ext cx="53578" cy="857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538528" y="3831617"/>
            <a:ext cx="13358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Graph Database Pioneer</a:t>
            </a:r>
            <a:endParaRPr lang="en-US" sz="727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9225" y="4072719"/>
            <a:ext cx="53578" cy="857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538528" y="4049502"/>
            <a:ext cx="151804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AWS Infrastructure Expert</a:t>
            </a:r>
            <a:endParaRPr lang="en-US" sz="727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9225" y="4290603"/>
            <a:ext cx="53578" cy="8572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538528" y="4267386"/>
            <a:ext cx="139660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ML/AI Systems Architect</a:t>
            </a:r>
            <a:endParaRPr lang="en-US" sz="727" dirty="0"/>
          </a:p>
        </p:txBody>
      </p:sp>
      <p:sp>
        <p:nvSpPr>
          <p:cNvPr id="24" name="Text 13"/>
          <p:cNvSpPr/>
          <p:nvPr/>
        </p:nvSpPr>
        <p:spPr>
          <a:xfrm>
            <a:off x="6030497" y="1711403"/>
            <a:ext cx="23455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ADVISORY BOARD</a:t>
            </a:r>
            <a:endParaRPr lang="en-US" sz="727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0497" y="1990009"/>
            <a:ext cx="428625" cy="3429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030497" y="2543649"/>
            <a:ext cx="2345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STRATEGIC INDUSTRY LEADERS</a:t>
            </a:r>
            <a:endParaRPr lang="en-US" sz="1193" dirty="0"/>
          </a:p>
        </p:txBody>
      </p:sp>
      <p:sp>
        <p:nvSpPr>
          <p:cNvPr id="27" name="Text 15"/>
          <p:cNvSpPr/>
          <p:nvPr/>
        </p:nvSpPr>
        <p:spPr>
          <a:xfrm>
            <a:off x="6030497" y="3111578"/>
            <a:ext cx="23455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Former CISOs and security executives from Fortune 500 Financial Services and SaaS scale-ups.</a:t>
            </a:r>
            <a:endParaRPr lang="en-US" sz="834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0497" y="3854834"/>
            <a:ext cx="53578" cy="85725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169800" y="3831617"/>
            <a:ext cx="10322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Fortune 500 CISOs</a:t>
            </a:r>
            <a:endParaRPr lang="en-US" sz="727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0497" y="4072719"/>
            <a:ext cx="53578" cy="8572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169800" y="4049502"/>
            <a:ext cx="127515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SaaS Scale-up Experts</a:t>
            </a:r>
            <a:endParaRPr lang="en-US" sz="727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0497" y="4290603"/>
            <a:ext cx="53578" cy="85725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169800" y="4267386"/>
            <a:ext cx="127515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IAM Industry Veterans</a:t>
            </a:r>
            <a:endParaRPr lang="en-US" sz="727" dirty="0"/>
          </a:p>
        </p:txBody>
      </p:sp>
      <p:sp>
        <p:nvSpPr>
          <p:cNvPr id="34" name="Text 19"/>
          <p:cNvSpPr/>
          <p:nvPr/>
        </p:nvSpPr>
        <p:spPr>
          <a:xfrm>
            <a:off x="767953" y="4530421"/>
            <a:ext cx="7608094" cy="605935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TEAM_ID: UNKOV_FOUNDING_ARCHITECTS_v2026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$4.0M SEED ROUND TO FUEL THE UNIFIED CONTROL PLANE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476077"/>
            <a:ext cx="24026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// THE TERMS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767953" y="1693962"/>
            <a:ext cx="24026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SEED ROUND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767953" y="2006501"/>
            <a:ext cx="2402672" cy="516136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3678" y="2095798"/>
            <a:ext cx="223122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TARGET RAISE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853678" y="2236887"/>
            <a:ext cx="22312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$4,000,000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767953" y="2597646"/>
            <a:ext cx="2402672" cy="516136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678" y="2686943"/>
            <a:ext cx="223122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INSTRUMENT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853678" y="2828032"/>
            <a:ext cx="22312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Post-Money SAFE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767953" y="3188791"/>
            <a:ext cx="2402672" cy="516136"/>
          </a:xfrm>
          <a:prstGeom prst="rect">
            <a:avLst/>
          </a:prstGeom>
          <a:solidFill>
            <a:srgbClr val="94A3B8">
              <a:alpha val="5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678" y="3278088"/>
            <a:ext cx="223122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VALUATION CAP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853678" y="3419177"/>
            <a:ext cx="22312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$20,000,000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370650" y="1486793"/>
            <a:ext cx="24026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// USE OF FUNDS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3370650" y="1704677"/>
            <a:ext cx="24026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ALLOCATION</a:t>
            </a:r>
            <a:endParaRPr lang="en-US" sz="1193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50" y="2017216"/>
            <a:ext cx="2402086" cy="1000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73347" y="1486793"/>
            <a:ext cx="24027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// MILESTONES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5973347" y="1704677"/>
            <a:ext cx="24027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SERIES A READINESS</a:t>
            </a:r>
            <a:endParaRPr lang="en-US" sz="1193" dirty="0"/>
          </a:p>
        </p:txBody>
      </p:sp>
      <p:sp>
        <p:nvSpPr>
          <p:cNvPr id="20" name="Text 16"/>
          <p:cNvSpPr/>
          <p:nvPr/>
        </p:nvSpPr>
        <p:spPr>
          <a:xfrm>
            <a:off x="5973347" y="2017216"/>
            <a:ext cx="2402700" cy="13215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REACH $300K - $500K ARR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5973347" y="2206526"/>
            <a:ext cx="2402700" cy="13215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15-20 ENTERPRISE CUSTOMERS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5973347" y="2395835"/>
            <a:ext cx="2402700" cy="13215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SOC 2 TYPE II CERTIFICATION</a:t>
            </a:r>
            <a:endParaRPr lang="en-US" sz="727" dirty="0"/>
          </a:p>
        </p:txBody>
      </p:sp>
      <p:sp>
        <p:nvSpPr>
          <p:cNvPr id="23" name="Text 19"/>
          <p:cNvSpPr/>
          <p:nvPr/>
        </p:nvSpPr>
        <p:spPr>
          <a:xfrm>
            <a:off x="5973347" y="2585145"/>
            <a:ext cx="2402700" cy="13215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LAUNCH COMPLIANCE AUTOPILOT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767953" y="4186238"/>
            <a:ext cx="7608094" cy="4973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767953" y="4186238"/>
            <a:ext cx="7608094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22"/>
          <p:cNvSpPr/>
          <p:nvPr/>
        </p:nvSpPr>
        <p:spPr>
          <a:xfrm>
            <a:off x="767953" y="4426893"/>
            <a:ext cx="15751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PROJECTED CASH RUNWAY</a:t>
            </a:r>
            <a:endParaRPr lang="en-US" sz="727" dirty="0"/>
          </a:p>
        </p:txBody>
      </p:sp>
      <p:sp>
        <p:nvSpPr>
          <p:cNvPr id="27" name="Text 23"/>
          <p:cNvSpPr/>
          <p:nvPr/>
        </p:nvSpPr>
        <p:spPr>
          <a:xfrm>
            <a:off x="6304359" y="4379565"/>
            <a:ext cx="20716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32 MONTHS FROM CLOSE</a:t>
            </a:r>
            <a:endParaRPr lang="en-US" sz="1193" dirty="0"/>
          </a:p>
        </p:txBody>
      </p:sp>
      <p:sp>
        <p:nvSpPr>
          <p:cNvPr id="28" name="Text 24"/>
          <p:cNvSpPr/>
          <p:nvPr/>
        </p:nvSpPr>
        <p:spPr>
          <a:xfrm>
            <a:off x="767953" y="4681835"/>
            <a:ext cx="7608094" cy="454521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FUNDING_REQUEST_v2026.1 | SEED_ROUND_ORCHESTRATION</a:t>
            </a:r>
            <a:endParaRPr lang="en-US" sz="72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725091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PROACTIVE STRATEGIES FOR ECONOMIC, TECHNICAL, AND REGULATORY RESILIENCE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2244812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// ECONOMIC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767953" y="2548421"/>
            <a:ext cx="2345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INFERENCE ECONOMICS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67953" y="2889535"/>
            <a:ext cx="234552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Task-specific, optimized models keep Cost-Per-Inference (CPI) low and margins high, preventing the "AI Margin Trap."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767953" y="3943434"/>
            <a:ext cx="2345522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5128" y="4072021"/>
            <a:ext cx="176093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STRATEGY: MARGIN_PROTECTION_ACTIVE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3399225" y="2244812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// TECHNICAL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3399225" y="2548421"/>
            <a:ext cx="2345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SECURITY GATING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399225" y="2889535"/>
            <a:ext cx="234552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"Permission Gating" on every tool call prevents prompt injection backdoors and ensures autonomous actions are auditable.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3399225" y="3943434"/>
            <a:ext cx="2345522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6400" y="4072021"/>
            <a:ext cx="160555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STRATEGY: INJECTION_SHIELD_V2.1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6030497" y="2244812"/>
            <a:ext cx="23455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// REGULATORY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030497" y="2548421"/>
            <a:ext cx="2345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AUDIT INTEGRITY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030497" y="2889535"/>
            <a:ext cx="23455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Verifiable, immutable audit trails ensure compliance with "AI Washing" scrutiny and global data residency laws.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6030497" y="3943434"/>
            <a:ext cx="2345550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87672" y="4067277"/>
            <a:ext cx="18645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STRATEGY: COMPLIANCE_AUTOPILOT_READY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767953" y="4294091"/>
            <a:ext cx="7608094" cy="842265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RISK_MITIGATION_FRAMEWORK_2026 | RADICAL_TRANSPARENCY</a:t>
            </a:r>
            <a:endParaRPr lang="en-US" sz="72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953" y="578644"/>
            <a:ext cx="7608094" cy="423267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INVESTOR DATA ROOM: PROOF-READY FOR DUE DILIGENCE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67953" y="1955602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// FINANCIAL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767953" y="2259211"/>
            <a:ext cx="2345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CAPITALIZATION PROOF</a:t>
            </a:r>
            <a:endParaRPr lang="en-US" sz="119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53" y="2676227"/>
            <a:ext cx="87511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1189" y="2657475"/>
            <a:ext cx="13323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3-Year Forecast</a:t>
            </a:r>
            <a:endParaRPr lang="en-US" sz="83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53" y="2928045"/>
            <a:ext cx="87511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1189" y="2909292"/>
            <a:ext cx="156269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Cap Table (15% ESOP)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53" y="3179862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1189" y="3161109"/>
            <a:ext cx="12090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Itemized Use of Funds</a:t>
            </a:r>
            <a:endParaRPr lang="en-US" sz="834" dirty="0"/>
          </a:p>
        </p:txBody>
      </p:sp>
      <p:sp>
        <p:nvSpPr>
          <p:cNvPr id="12" name="Shape 6"/>
          <p:cNvSpPr/>
          <p:nvPr/>
        </p:nvSpPr>
        <p:spPr>
          <a:xfrm>
            <a:off x="767953" y="3930848"/>
            <a:ext cx="2345522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025128" y="4059436"/>
            <a:ext cx="150197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STATUS: FINANCIAL_AUDIT_READY</a:t>
            </a:r>
            <a:endParaRPr lang="en-US" sz="621" dirty="0"/>
          </a:p>
        </p:txBody>
      </p:sp>
      <p:sp>
        <p:nvSpPr>
          <p:cNvPr id="14" name="Text 8"/>
          <p:cNvSpPr/>
          <p:nvPr/>
        </p:nvSpPr>
        <p:spPr>
          <a:xfrm>
            <a:off x="3399225" y="1955602"/>
            <a:ext cx="23455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// TECHNICAL</a:t>
            </a:r>
            <a:endParaRPr lang="en-US" sz="727" dirty="0"/>
          </a:p>
        </p:txBody>
      </p:sp>
      <p:sp>
        <p:nvSpPr>
          <p:cNvPr id="15" name="Text 9"/>
          <p:cNvSpPr/>
          <p:nvPr/>
        </p:nvSpPr>
        <p:spPr>
          <a:xfrm>
            <a:off x="3399225" y="2259211"/>
            <a:ext cx="2345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 DEFENSIBILITY</a:t>
            </a:r>
            <a:endParaRPr lang="en-US" sz="1193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9225" y="2676227"/>
            <a:ext cx="87511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572461" y="2657475"/>
            <a:ext cx="157876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</a:t>
            </a:r>
            <a:endParaRPr lang="en-US" sz="834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9225" y="2928045"/>
            <a:ext cx="87511" cy="100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572461" y="2909292"/>
            <a:ext cx="13948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Provenance &amp; Rights</a:t>
            </a:r>
            <a:endParaRPr lang="en-US" sz="834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9225" y="3179862"/>
            <a:ext cx="87511" cy="1000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572461" y="3161109"/>
            <a:ext cx="15109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18-Month Product Roadmap</a:t>
            </a:r>
            <a:endParaRPr lang="en-US" sz="834" dirty="0"/>
          </a:p>
        </p:txBody>
      </p:sp>
      <p:sp>
        <p:nvSpPr>
          <p:cNvPr id="22" name="Shape 13"/>
          <p:cNvSpPr/>
          <p:nvPr/>
        </p:nvSpPr>
        <p:spPr>
          <a:xfrm>
            <a:off x="3399225" y="3930848"/>
            <a:ext cx="2345522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3656400" y="4059436"/>
            <a:ext cx="16573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STATUS: TECH_DUE_DILIGENCE_READY</a:t>
            </a:r>
            <a:endParaRPr lang="en-US" sz="621" dirty="0"/>
          </a:p>
        </p:txBody>
      </p:sp>
      <p:sp>
        <p:nvSpPr>
          <p:cNvPr id="24" name="Text 15"/>
          <p:cNvSpPr/>
          <p:nvPr/>
        </p:nvSpPr>
        <p:spPr>
          <a:xfrm>
            <a:off x="6030497" y="1955602"/>
            <a:ext cx="23455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// LEGAL</a:t>
            </a:r>
            <a:endParaRPr lang="en-US" sz="727" dirty="0"/>
          </a:p>
        </p:txBody>
      </p:sp>
      <p:sp>
        <p:nvSpPr>
          <p:cNvPr id="25" name="Text 16"/>
          <p:cNvSpPr/>
          <p:nvPr/>
        </p:nvSpPr>
        <p:spPr>
          <a:xfrm>
            <a:off x="6030497" y="2259211"/>
            <a:ext cx="2345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CORPORATE HYGIENE</a:t>
            </a:r>
            <a:endParaRPr lang="en-US" sz="1193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0497" y="2676227"/>
            <a:ext cx="87511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203733" y="2657475"/>
            <a:ext cx="15126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Delaware C-Corp Formation</a:t>
            </a:r>
            <a:endParaRPr lang="en-US" sz="834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0497" y="2928045"/>
            <a:ext cx="87511" cy="10001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203733" y="2909292"/>
            <a:ext cx="14573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Assignment Agreements</a:t>
            </a:r>
            <a:endParaRPr lang="en-US" sz="834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0497" y="3179862"/>
            <a:ext cx="87511" cy="100013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203733" y="3161109"/>
            <a:ext cx="10394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Executed Pilot LOIs</a:t>
            </a:r>
            <a:endParaRPr lang="en-US" sz="834" dirty="0"/>
          </a:p>
        </p:txBody>
      </p:sp>
      <p:sp>
        <p:nvSpPr>
          <p:cNvPr id="32" name="Shape 20"/>
          <p:cNvSpPr/>
          <p:nvPr/>
        </p:nvSpPr>
        <p:spPr>
          <a:xfrm>
            <a:off x="6030497" y="3930848"/>
            <a:ext cx="2345550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6287672" y="4054664"/>
            <a:ext cx="155376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STATUS: LEGAL_COMPLIANCE_READY</a:t>
            </a:r>
            <a:endParaRPr lang="en-US" sz="621" dirty="0"/>
          </a:p>
        </p:txBody>
      </p:sp>
      <p:sp>
        <p:nvSpPr>
          <p:cNvPr id="34" name="Text 22"/>
          <p:cNvSpPr/>
          <p:nvPr/>
        </p:nvSpPr>
        <p:spPr>
          <a:xfrm>
            <a:off x="767953" y="4281478"/>
            <a:ext cx="7608094" cy="854878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DATA_ROOM_ID: UNKOV_SEED_DILIGENCE_v2026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46622" y="864394"/>
            <a:ext cx="6050756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FUTURE IS AGENTIC.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899470" y="1538753"/>
            <a:ext cx="33450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spc="3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US IN BUILDING IT.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2996803" y="2244198"/>
            <a:ext cx="1816298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96803" y="2244198"/>
            <a:ext cx="1816298" cy="355402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investors@unkov.com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091708" y="2244198"/>
            <a:ext cx="1048345" cy="355402"/>
          </a:xfrm>
          <a:prstGeom prst="rect">
            <a:avLst/>
          </a:prstGeom>
          <a:solidFill>
            <a:srgbClr val="38BDF8">
              <a:alpha val="5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91708" y="2244198"/>
            <a:ext cx="1048345" cy="355402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unkov.com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428875" y="3156812"/>
            <a:ext cx="4286250" cy="784334"/>
          </a:xfrm>
          <a:prstGeom prst="rect">
            <a:avLst/>
          </a:prstGeom>
          <a:noFill/>
          <a:ln/>
        </p:spPr>
        <p:txBody>
          <a:bodyPr wrap="square" lIns="0" tIns="272161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Unkov: From Digital Filing Cabinets to Predictive Intelligence. Architecting the Unified Control Plane for Machine-Age Governance.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170164" y="4480917"/>
            <a:ext cx="8036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6" kern="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UNKOV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2026-03-16T03:14:49Z</dcterms:created>
  <dcterms:modified xsi:type="dcterms:W3CDTF">2026-03-16T03:14:49Z</dcterms:modified>
</cp:coreProperties>
</file>